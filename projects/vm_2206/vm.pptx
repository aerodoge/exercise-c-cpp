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4"/>
  </p:notesMasterIdLst>
  <p:handoutMasterIdLst>
    <p:handoutMasterId r:id="rId25"/>
  </p:handoutMasterIdLst>
  <p:sldIdLst>
    <p:sldId id="295" r:id="rId4"/>
    <p:sldId id="398" r:id="rId5"/>
    <p:sldId id="425" r:id="rId6"/>
    <p:sldId id="448" r:id="rId7"/>
    <p:sldId id="494" r:id="rId8"/>
    <p:sldId id="495" r:id="rId9"/>
    <p:sldId id="496" r:id="rId10"/>
    <p:sldId id="497" r:id="rId11"/>
    <p:sldId id="477" r:id="rId12"/>
    <p:sldId id="498" r:id="rId13"/>
    <p:sldId id="500" r:id="rId14"/>
    <p:sldId id="499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294" r:id="rId2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C3B2"/>
    <a:srgbClr val="BBE0E3"/>
    <a:srgbClr val="CCECFB"/>
    <a:srgbClr val="7FCFF4"/>
    <a:srgbClr val="DBD4CB"/>
    <a:srgbClr val="B8A996"/>
    <a:srgbClr val="DDF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594"/>
  </p:normalViewPr>
  <p:slideViewPr>
    <p:cSldViewPr showGuides="1">
      <p:cViewPr>
        <p:scale>
          <a:sx n="125" d="100"/>
          <a:sy n="125" d="100"/>
        </p:scale>
        <p:origin x="-1272" y="648"/>
      </p:cViewPr>
      <p:guideLst>
        <p:guide orient="horz" pos="2144"/>
        <p:guide pos="28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3" Type="http://schemas.openxmlformats.org/officeDocument/2006/relationships/tags" Target="../tags/tag5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7.xml"/><Relationship Id="rId2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9.xml"/><Relationship Id="rId2" Type="http://schemas.openxmlformats.org/officeDocument/2006/relationships/image" Target="../media/image1.png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6975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92429" y="1907540"/>
            <a:ext cx="3631565" cy="7372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跟我一起学编程系列课程：</a:t>
            </a:r>
            <a:endParaRPr lang="zh-CN" altLang="en-US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zh-CN" altLang="en-US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27275" y="2552700"/>
            <a:ext cx="36322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noProof="1">
              <a:solidFill>
                <a:schemeClr val="accent4"/>
              </a:solidFill>
            </a:endParaRPr>
          </a:p>
          <a:p>
            <a:pPr algn="ctr"/>
            <a:endParaRPr lang="zh-CN" altLang="en-US" noProof="1">
              <a:solidFill>
                <a:schemeClr val="accent4"/>
              </a:solidFill>
            </a:endParaRPr>
          </a:p>
          <a:p>
            <a:pPr algn="ctr"/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第二篇</a:t>
            </a: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语言</a:t>
            </a:r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项目实战</a:t>
            </a:r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等腰三角形 10"/>
          <p:cNvSpPr/>
          <p:nvPr/>
        </p:nvSpPr>
        <p:spPr>
          <a:xfrm rot="1409317">
            <a:off x="7929563" y="730250"/>
            <a:ext cx="1668463" cy="191293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 rot="2707182">
            <a:off x="5198269" y="1167606"/>
            <a:ext cx="3956050" cy="1646238"/>
          </a:xfrm>
          <a:prstGeom prst="rect">
            <a:avLst/>
          </a:prstGeom>
          <a:solidFill>
            <a:srgbClr val="D5C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 rot="2707182">
            <a:off x="7495381" y="416719"/>
            <a:ext cx="1323975" cy="1157288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8" name="文本框 4"/>
          <p:cNvSpPr txBox="1"/>
          <p:nvPr/>
        </p:nvSpPr>
        <p:spPr>
          <a:xfrm>
            <a:off x="421956" y="2068830"/>
            <a:ext cx="8142288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endParaRPr lang="zh-CN" altLang="en-US" sz="240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第一</a:t>
            </a:r>
            <a:r>
              <a:rPr lang="zh-CN" altLang="en-US" sz="2400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节</a:t>
            </a:r>
            <a:endParaRPr lang="zh-CN" altLang="en-US" sz="240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●项目</a:t>
            </a:r>
            <a:r>
              <a:rPr lang="en-US" altLang="zh-CN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r>
            <a:r>
              <a:rPr lang="zh-CN" altLang="en-US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：构建自己的虚拟计算机</a:t>
            </a:r>
            <a:endParaRPr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                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			</a:t>
            </a:r>
            <a:endParaRPr lang="zh-CN" altLang="en-US" sz="2400" dirty="0">
              <a:solidFill>
                <a:srgbClr val="FF0000"/>
              </a:solidFill>
              <a:sym typeface="+mn-ea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      </a:t>
            </a:r>
            <a:endParaRPr lang="zh-CN" altLang="en-US" sz="2400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7175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任意多边形 13"/>
          <p:cNvSpPr/>
          <p:nvPr/>
        </p:nvSpPr>
        <p:spPr>
          <a:xfrm>
            <a:off x="7985125" y="2790825"/>
            <a:ext cx="1162050" cy="2286000"/>
          </a:xfrm>
          <a:custGeom>
            <a:avLst/>
            <a:gdLst>
              <a:gd name="connsiteX0" fmla="*/ 0 w 1162050"/>
              <a:gd name="connsiteY0" fmla="*/ 1181100 h 2286000"/>
              <a:gd name="connsiteX1" fmla="*/ 1162050 w 1162050"/>
              <a:gd name="connsiteY1" fmla="*/ 2286000 h 2286000"/>
              <a:gd name="connsiteX2" fmla="*/ 1157288 w 1162050"/>
              <a:gd name="connsiteY2" fmla="*/ 0 h 2286000"/>
              <a:gd name="connsiteX3" fmla="*/ 0 w 1162050"/>
              <a:gd name="connsiteY3" fmla="*/ 11811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2050" h="2286000">
                <a:moveTo>
                  <a:pt x="0" y="1181100"/>
                </a:moveTo>
                <a:lnTo>
                  <a:pt x="1162050" y="2286000"/>
                </a:lnTo>
                <a:cubicBezTo>
                  <a:pt x="1160463" y="1524000"/>
                  <a:pt x="1158875" y="762000"/>
                  <a:pt x="1157288" y="0"/>
                </a:cubicBezTo>
                <a:lnTo>
                  <a:pt x="0" y="11811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7" name="文本框 1"/>
          <p:cNvSpPr txBox="1"/>
          <p:nvPr/>
        </p:nvSpPr>
        <p:spPr>
          <a:xfrm>
            <a:off x="3452021" y="1872298"/>
            <a:ext cx="22396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语言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程序设计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1783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一、构建自己的虚拟计算机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在下面的几个问题中,我们将暂时离开高层次的程序设计语言。我们打开计算机,并观察它的内部结构。我们介绍一种机器语言程序设计方法,并编写几个机器语言程序。为了使得这个练习有价值,我们</a:t>
            </a:r>
            <a:r>
              <a:rPr lang="zh-CN" sz="1800" dirty="0">
                <a:solidFill>
                  <a:schemeClr val="tx2"/>
                </a:solidFill>
                <a:sym typeface="宋体" panose="02010600030101010101" pitchFamily="2" charset="-122"/>
              </a:rPr>
              <a:t>使</a:t>
            </a:r>
            <a:r>
              <a:rPr lang="zh-CN" sz="1800" dirty="0">
                <a:solidFill>
                  <a:schemeClr val="tx2"/>
                </a:solidFill>
                <a:sym typeface="宋体" panose="02010600030101010101" pitchFamily="2" charset="-122"/>
              </a:rPr>
              <a:t>用基于软件的模拟技术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建立一台计算机,您在上面可以执行自己的机器语言程序!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38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二、机器语言程序设计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让我们创建一台计算机 Simpletron。顾名思义,它是一台简单的机器,但我们很快将看到,它也是一台强大的机器。 Simpletron仅仅能运行它可以直接理解的语言所编写的程序,那就, Simpletron Machine Language( Simpletron机器语言,SML)。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Simpletron包含一个累加器,也就是一个“特殊的寄存器”,其中 Simpletron在计算中使用信息或者以各种方式研究信息之前,将把这些信息存储在这里。 Simpletron中的所有信息都是以字的形式处理的。字是有符号的4位十进制数字,例如+3364,-1293,+0007,-0001等等。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Simpletron具有100个字的内存,而这些字用它们的位置编号00,01,…,99来引用。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在运行SML程序之前,我们必须将程序加载到内存中。每个SML程序的第1条指令(或者语句)总是安排在位置00。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用SML编写的每条指令将占据 Simpletron内存中的1个字(因此指令是有符号的4位十进制数字)。我们假设SML命令的符号总是加号,但数据字的符号可能是加号或者减号。 Simpletron内存中的每个位置可能包含一条指令,程序所使用的数据值,或者内存的未使用区域(因此没有定义)。每条SML语句的前2位是操作码,它规定了要执行的操作。图7.32中总结了SML操作码。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4984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二、机器语言程序设计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	</a:t>
            </a:r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Simpletron机器语言(SML)操作码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2780" y="1882140"/>
            <a:ext cx="7924800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4984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二、机器语言程序设计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SML的后2位是操作数。它包含作为操作应用对象的字的内存位置地址。现在,让我们考虑几个简单的SML程序。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这个SML程序从键盘读取两个数字,并计算和输出它们的和。指令+1007从键盘读取第1个数字,并将其安排在位置07(这个位置已经初始化为0)。然后+1008将下一个数字读取到08中。load指令+2007,将第1个数字放置在累加器中,add指令+3008将第2个数字和累加器中的第1个数字相加。所有SML算术指令都将结果保留在累加器中。 store指令+2109将结果放置在内存位置09中,而wite指令+1109将从这个位置取出数字,并输出它(作为有符号的4位十进制数字)。halt指令+4300结束执行。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20" y="2491740"/>
            <a:ext cx="5495925" cy="2447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3907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二、机器语言程序设计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这个SML程序从键盘读取两个数字,并确定和输出较大的值。注意,使用指令+4107作为控制的条件转移,这和C的if语句完全一样。现在,编写SML程序来完成下列的每项任务。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2090420"/>
            <a:ext cx="5429250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二、机器语言程序设计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a)使用标记控制循环来读取10个正数,并计算和输出它们的总和。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b)使用计数器控制的循环来读取7个数字,一些正数和一些负数,并计算和输出它们的平均值。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c)读取一系列数字,并确定和输出最大值。读取的第1个数组说明应该处理多少个数字。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39998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这个问题初看起来是很讨厌的,但是在这个问题中,您将建立自己的计算机.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您将使用基于软件模拟的强大技术来创建 Simpletron的软件模型。您的 SImpletron模拟器将把您正在使用的计算机转换为 Simpletron,而您实际上可以运行、测试和调试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前面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编写的SML程序。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当运行Simpletron模拟器时,它应该从输出下列内容开始：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Welcome to Simpletron!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Please enter your program one instruction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(or data word) at a time. I will type the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location number and a question mark (?).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You then type the word for that location.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Type the sentinel -99999 to stop entering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your program. ***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1079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用有100元素的一维数组memory来模拟Simpletron的内存。现在,假设正在运行模拟程序 ，让我们研究一下输入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SML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例2程序时的对话：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 ? +1009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01 ? +1010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02 ? +2009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03 ? +3110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04 ? +4107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05 ? +1109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06 ? +4300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07 ? +1110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08 ? +4300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09 ? +0000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10 ? +0000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11 ? -99999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Program loading completed ***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 Program execution begins ***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38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现在,SML程序已经放置(或者加载)到数组 memory中。现在, Simpletron执行您的SML程序。执行从位置00处的指令开始,和C类似,将顺序执行,或者通过跳转语句直接跳转到程序的其他位置。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使用变量 accumulator来表示累加器寄存器。使用变量 instructionCounter来跟踪包含正在执行的指令的内存位置。使用变量 operationCode来说明当前正在执行的操作,也就是命令字的左边2位。使用变量 operand来指出当前指令所操作的内存位置。不要直接从内存执行指令。而是将要执行的下一条指令从内存转移到变量 cinstructionRegister中。然后“取掉”左边的2位,并将它们放置在变量 operationCode中,“取掉”右边的2位,并将它们放置在 Operand中。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当 Simpletron开始执行时,将特殊的寄存器初始化如下: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accumulator                   +0000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instructionCounter               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instructionRegister        +0000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operationCode                    00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operand                              00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39998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现在,让我们“预排”第1条SML指令的执行,也就是内存位置00中的+1009。这称为一个指令执行周期。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instructionCounter告诉我们要执行的下一条指令的位置。我们使用C语句从 memory得到那个位置的内容: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instructionRegister = memory[ instructionCounter ];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通过下列语句从指令寄存器中提取操作码和操作数: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operationcode =  instructionRegister / 100；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operand= instructionRegister % 100；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现在, Simpletron必须确定操作码实际是读取(和写入、加载等相对)。 switch区别了SML的12种操作。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4831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在 switch语句中,按照如下方式模拟不同SML指令的行为(我们将其他的留给读者):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读取: scanf("d",&amp; memory[ operand])；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加载: accumu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l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ator= memory[ operand]；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相加: accumulator+= memory[ operand];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各种分支指令:我们将简要讨论这些。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暂停:这个指令输出消息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***simpletron execution terminated***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然后输出每个寄存器的名称和内容,以及内存的全部内容。这样的输出通常称计算机转储。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为帮助您完成转储功能，图7.33中说明了一个转储格式示例。注意，在执行Simpletron程序之后的转储将说明在执行结束时的指令和数据值的实际值。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19996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转储示例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330" y="2606040"/>
            <a:ext cx="612457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0463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让我们继续执行程序的第1条指令,也就是位置00处的+1009。正如我们已经说明的那样, switch语句通过执行C语句来模拟这种情况: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scanf("%d",&amp;memory[ operand ]);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在执行 scanf以提示用户输入之前,应该在屏幕上显示问号(?)。 Simpletron等待用户输入一个值,并按下 Enter键建。然后将值读入到位置09。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此时,就完成了第1条指令的模拟过程。剩下的所有工作就是让 Simpletron准备执行下一条指令。既然刚刚执行的指令并没有转移控制,我们仅仅需要增加指令计数器寄存器的值,如下所示: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++instructionCounter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这将完成第1条指令的模拟执行过程。整个过程(也就是指令执行周期)通过取得要执行的下条指令而更新。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现在,让我们考虑任何模拟分支指令:控制转移。我们所需要做的全部工作就是适当调整指令计数器中的值。因此,非条件分支指令(40)用 Switch模拟如下: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32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if( accumulator ==0)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instructionCounter= operand;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此时,您应该实现 . Simpletron模拟器,并运行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之前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编写的每个SML程序。可以用其他功能来修饰SML和在模拟器中提供这些功能。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模拟器应该检查不同类型的错误。例如,在程序加载阶段,用户在 Simpletron的 memory中输入的每个数字都必须在-9999~+9999之间。模拟器应该使用一个while循环来测试输入的每个数字是否在这个范围内,如果不在这个范围内,则不断提示用户再次输入数字,直至用户输入正确的数字。 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在执行阶段,模拟器应该检查各种严重错误,例如试图除以0,试图执行无效的操作码,累加器溢出(也就是算术运算所产生的值大于+999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9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者小于-99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9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9)等等问题。这样的严重错误称为致命错误。当检测到致命错误时,模拟器应该输出错误消息,如下所示: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 Attempt to divide by zero***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***Simpletron execution abnorma11y terminated***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应该用我们前面讨论的格式来输出完整的计算机转储。这将帮助用户定位程序中的问题。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、计算机模拟器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95" y="2120900"/>
            <a:ext cx="4981575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32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、对 Simpletron模拟器的修改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sym typeface="宋体" panose="02010600030101010101" pitchFamily="2" charset="-122"/>
              </a:rPr>
              <a:t>在这个练习中,我们对 Simpletron模拟器进行了几处改动和改进。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a)将 Simpletron模拟器的内存扩展到包含1000个内存位置,以使 Simpletron可以处理较大的程序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b)允许模拟器执行模数计算。这需要另外的Simpletron器语言指令。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c)允许模拟器执行求幂计算。这需要另外的Simpletron器语言指令。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d)修改模拟器,以使用十六进制数字，而不是整数值来表示Simpletron器语言指令。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e)修改模拟器,以允许输出新行。这需要另外的Simpletron器语言指令。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f)修改模拟器,以处理数值之外可以处理浮点数。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g)修改模拟器,以处理字符串输入。（提示:每个Simpletron字可以分为2组,每一个保存2位的整数。每个2位整数可以代表字符的ASCI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十进制等价值。增加一条机器语言指令,它将输入字符串和将字符串存储在特定的 Simpletron内存位置。那个位置的字的前一半是字符串中的字符数量(也就是字符串的长度)。每个后续的半个字包含一个用2位十进制数字表示的ASCII字符。机器语言指令将每个字符转换为对应的ASCⅡ,并将其赋给半个字。)</a:t>
            </a:r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24917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、对 Simpletron模拟器的修改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h)修改模拟器,以输出用(g)部分的格式存储的字符串(提示:添加一条机器语言指令,它将输出在特定 Simpletron内存位置处开始的字符串。那个位置的字的前半部分是字符串中的字符数量(也就是字符串的长度)。每个后续的半个字包含用2位十进制数字表示的ASCII字符。机器语言指令检查长度,并通过将每个2位十进制数字转换为等价的字符而输出字符串。)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7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6975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459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矩形 5"/>
          <p:cNvSpPr/>
          <p:nvPr/>
        </p:nvSpPr>
        <p:spPr>
          <a:xfrm>
            <a:off x="250825" y="1412875"/>
            <a:ext cx="3241675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昆山爱达人信息技术有限公司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825" y="1752600"/>
            <a:ext cx="903288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视频提供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89063" y="2781300"/>
            <a:ext cx="73025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3" name="矩形 8"/>
          <p:cNvSpPr/>
          <p:nvPr/>
        </p:nvSpPr>
        <p:spPr>
          <a:xfrm>
            <a:off x="1585913" y="2781300"/>
            <a:ext cx="25034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 algn="dist"/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视频录制：编程达人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89063" y="3716338"/>
            <a:ext cx="73025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5" name="矩形 10"/>
          <p:cNvSpPr/>
          <p:nvPr/>
        </p:nvSpPr>
        <p:spPr>
          <a:xfrm>
            <a:off x="1585913" y="3716338"/>
            <a:ext cx="210820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</a:rPr>
              <a:t>官网地址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www.bcdaren.com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90650" y="4724400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7" name="矩形 13"/>
          <p:cNvSpPr/>
          <p:nvPr/>
        </p:nvSpPr>
        <p:spPr>
          <a:xfrm>
            <a:off x="1585913" y="4724400"/>
            <a:ext cx="146685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联系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QQ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1250121864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86275" y="2781300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9" name="矩形 15"/>
          <p:cNvSpPr/>
          <p:nvPr/>
        </p:nvSpPr>
        <p:spPr>
          <a:xfrm>
            <a:off x="4675188" y="2781300"/>
            <a:ext cx="1851025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联系电话：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0512-57882866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86275" y="3716338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71" name="矩形 17"/>
          <p:cNvSpPr/>
          <p:nvPr/>
        </p:nvSpPr>
        <p:spPr>
          <a:xfrm>
            <a:off x="4675188" y="3716338"/>
            <a:ext cx="146685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联系公众号：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昆山爱达人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87863" y="4724400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73" name="矩形 19"/>
          <p:cNvSpPr/>
          <p:nvPr/>
        </p:nvSpPr>
        <p:spPr>
          <a:xfrm>
            <a:off x="4675188" y="4724400"/>
            <a:ext cx="1481137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编程达人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APP: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8920,&quot;width&quot;:14400}"/>
</p:tagLst>
</file>

<file path=ppt/tags/tag2.xml><?xml version="1.0" encoding="utf-8"?>
<p:tagLst xmlns:p="http://schemas.openxmlformats.org/presentationml/2006/main">
  <p:tag name="KSO_WM_UNIT_PLACING_PICTURE_USER_VIEWPORT" val="{&quot;height&quot;:1920,&quot;width&quot;:4800}"/>
</p:tagLst>
</file>

<file path=ppt/tags/tag3.xml><?xml version="1.0" encoding="utf-8"?>
<p:tagLst xmlns:p="http://schemas.openxmlformats.org/presentationml/2006/main">
  <p:tag name="REFSHAPE" val="431316564"/>
  <p:tag name="KSO_WM_UNIT_PLACING_PICTURE_USER_VIEWPORT" val="{&quot;height&quot;:6315,&quot;width&quot;:12480}"/>
</p:tagLst>
</file>

<file path=ppt/tags/tag4.xml><?xml version="1.0" encoding="utf-8"?>
<p:tagLst xmlns:p="http://schemas.openxmlformats.org/presentationml/2006/main">
  <p:tag name="KSO_WM_UNIT_PLACING_PICTURE_USER_VIEWPORT" val="{&quot;height&quot;:8920,&quot;width&quot;:14400}"/>
</p:tagLst>
</file>

<file path=ppt/tags/tag5.xml><?xml version="1.0" encoding="utf-8"?>
<p:tagLst xmlns:p="http://schemas.openxmlformats.org/presentationml/2006/main">
  <p:tag name="KSO_WM_UNIT_PLACING_PICTURE_USER_VIEWPORT" val="{&quot;height&quot;:1920,&quot;width&quot;:4800}"/>
</p:tagLst>
</file>

<file path=ppt/tags/tag6.xml><?xml version="1.0" encoding="utf-8"?>
<p:tagLst xmlns:p="http://schemas.openxmlformats.org/presentationml/2006/main">
  <p:tag name="KSO_WM_UNIT_PLACING_PICTURE_USER_VIEWPORT" val="{&quot;height&quot;:8920,&quot;width&quot;:14400}"/>
</p:tagLst>
</file>

<file path=ppt/tags/tag7.xml><?xml version="1.0" encoding="utf-8"?>
<p:tagLst xmlns:p="http://schemas.openxmlformats.org/presentationml/2006/main">
  <p:tag name="KSO_WM_UNIT_PLACING_PICTURE_USER_VIEWPORT" val="{&quot;height&quot;:1920,&quot;width&quot;:4800}"/>
</p:tagLst>
</file>

<file path=ppt/tags/tag8.xml><?xml version="1.0" encoding="utf-8"?>
<p:tagLst xmlns:p="http://schemas.openxmlformats.org/presentationml/2006/main">
  <p:tag name="KSO_WM_UNIT_PLACING_PICTURE_USER_VIEWPORT" val="{&quot;height&quot;:8920,&quot;width&quot;:14400}"/>
</p:tagLst>
</file>

<file path=ppt/tags/tag9.xml><?xml version="1.0" encoding="utf-8"?>
<p:tagLst xmlns:p="http://schemas.openxmlformats.org/presentationml/2006/main">
  <p:tag name="KSO_WM_UNIT_PLACING_PICTURE_USER_VIEWPORT" val="{&quot;height&quot;:1920,&quot;width&quot;:4800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5154</Words>
  <Application>WPS 演示</Application>
  <PresentationFormat>全屏显示(4:3)</PresentationFormat>
  <Paragraphs>243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Calibri</vt:lpstr>
      <vt:lpstr>黑体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dtds</dc:creator>
  <cp:lastModifiedBy>dt</cp:lastModifiedBy>
  <cp:revision>240</cp:revision>
  <dcterms:created xsi:type="dcterms:W3CDTF">2016-04-11T03:23:00Z</dcterms:created>
  <dcterms:modified xsi:type="dcterms:W3CDTF">2019-12-07T02:42:17Z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</Properties>
</file>