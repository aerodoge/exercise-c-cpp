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295" r:id="rId4"/>
    <p:sldId id="398" r:id="rId5"/>
    <p:sldId id="425" r:id="rId6"/>
    <p:sldId id="494" r:id="rId7"/>
    <p:sldId id="495" r:id="rId8"/>
    <p:sldId id="448" r:id="rId9"/>
    <p:sldId id="496" r:id="rId10"/>
    <p:sldId id="477" r:id="rId11"/>
    <p:sldId id="497" r:id="rId12"/>
    <p:sldId id="294" r:id="rId1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C3B2"/>
    <a:srgbClr val="BBE0E3"/>
    <a:srgbClr val="CCECFB"/>
    <a:srgbClr val="7FCFF4"/>
    <a:srgbClr val="DBD4CB"/>
    <a:srgbClr val="B8A996"/>
    <a:srgbClr val="DDF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594"/>
  </p:normalViewPr>
  <p:slideViewPr>
    <p:cSldViewPr showGuides="1">
      <p:cViewPr>
        <p:scale>
          <a:sx n="125" d="100"/>
          <a:sy n="125" d="100"/>
        </p:scale>
        <p:origin x="-1272" y="648"/>
      </p:cViewPr>
      <p:guideLst>
        <p:guide orient="horz" pos="2159"/>
        <p:guide pos="282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20204" pitchFamily="34" charset="0"/>
              <a:buNone/>
              <a:defRPr sz="1400" noProof="1">
                <a:latin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zh-CN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5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矩形 8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147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392429" y="1907540"/>
            <a:ext cx="3631565" cy="7372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跟我一起学编程系列课程：</a:t>
            </a:r>
            <a:endParaRPr lang="zh-CN" altLang="en-US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zh-CN" altLang="en-US" noProof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27275" y="2552700"/>
            <a:ext cx="363220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noProof="1">
              <a:solidFill>
                <a:schemeClr val="accent4"/>
              </a:solidFill>
            </a:endParaRPr>
          </a:p>
          <a:p>
            <a:pPr algn="ctr"/>
            <a:endParaRPr lang="zh-CN" altLang="en-US" noProof="1">
              <a:solidFill>
                <a:schemeClr val="accent4"/>
              </a:solidFill>
            </a:endParaRPr>
          </a:p>
          <a:p>
            <a:pPr algn="ctr"/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第二篇</a:t>
            </a:r>
            <a:r>
              <a:rPr lang="en-US" altLang="zh-CN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语言</a:t>
            </a:r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2400" noProof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项目实战</a:t>
            </a:r>
            <a:endParaRPr lang="zh-CN" altLang="en-US" sz="2400" noProof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16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等腰三角形 10"/>
          <p:cNvSpPr/>
          <p:nvPr/>
        </p:nvSpPr>
        <p:spPr>
          <a:xfrm rot="1409317">
            <a:off x="7929563" y="730250"/>
            <a:ext cx="1668463" cy="1912938"/>
          </a:xfrm>
          <a:prstGeom prst="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 rot="2707182">
            <a:off x="5198269" y="1167606"/>
            <a:ext cx="3956050" cy="1646238"/>
          </a:xfrm>
          <a:prstGeom prst="rect">
            <a:avLst/>
          </a:prstGeom>
          <a:solidFill>
            <a:srgbClr val="D5C3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 rot="2707182">
            <a:off x="7495381" y="416719"/>
            <a:ext cx="1323975" cy="1157288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8" name="文本框 4"/>
          <p:cNvSpPr txBox="1"/>
          <p:nvPr/>
        </p:nvSpPr>
        <p:spPr>
          <a:xfrm>
            <a:off x="421956" y="2068830"/>
            <a:ext cx="8142288" cy="304609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endParaRPr lang="zh-CN" altLang="en-US" sz="240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第一</a:t>
            </a:r>
            <a:r>
              <a:rPr lang="zh-CN" altLang="en-US" sz="2400" noProof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节</a:t>
            </a:r>
            <a:endParaRPr lang="zh-CN" altLang="en-US" sz="2400" noProof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                           ●项目</a:t>
            </a:r>
            <a:r>
              <a:rPr lang="en-US" altLang="zh-CN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：迷宫遍历</a:t>
            </a:r>
            <a:endParaRPr sz="2400" noProof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r>
              <a:rPr lang="zh-CN" altLang="en-US" sz="2400" noProof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                 </a:t>
            </a:r>
            <a:r>
              <a:rPr lang="en-US" altLang="zh-CN" sz="2400" dirty="0">
                <a:solidFill>
                  <a:srgbClr val="FF0000"/>
                </a:solidFill>
                <a:sym typeface="+mn-ea"/>
              </a:rPr>
              <a:t>			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  <a:p>
            <a:pPr algn="ctr"/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       </a:t>
            </a:r>
            <a:endParaRPr lang="zh-CN" altLang="en-US" sz="2400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7175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任意多边形 13"/>
          <p:cNvSpPr/>
          <p:nvPr/>
        </p:nvSpPr>
        <p:spPr>
          <a:xfrm>
            <a:off x="7985125" y="2790825"/>
            <a:ext cx="1162050" cy="2286000"/>
          </a:xfrm>
          <a:custGeom>
            <a:avLst/>
            <a:gdLst>
              <a:gd name="connsiteX0" fmla="*/ 0 w 1162050"/>
              <a:gd name="connsiteY0" fmla="*/ 1181100 h 2286000"/>
              <a:gd name="connsiteX1" fmla="*/ 1162050 w 1162050"/>
              <a:gd name="connsiteY1" fmla="*/ 2286000 h 2286000"/>
              <a:gd name="connsiteX2" fmla="*/ 1157288 w 1162050"/>
              <a:gd name="connsiteY2" fmla="*/ 0 h 2286000"/>
              <a:gd name="connsiteX3" fmla="*/ 0 w 1162050"/>
              <a:gd name="connsiteY3" fmla="*/ 11811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2050" h="2286000">
                <a:moveTo>
                  <a:pt x="0" y="1181100"/>
                </a:moveTo>
                <a:lnTo>
                  <a:pt x="1162050" y="2286000"/>
                </a:lnTo>
                <a:cubicBezTo>
                  <a:pt x="1160463" y="1524000"/>
                  <a:pt x="1158875" y="762000"/>
                  <a:pt x="1157288" y="0"/>
                </a:cubicBezTo>
                <a:lnTo>
                  <a:pt x="0" y="11811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7" name="文本框 1"/>
          <p:cNvSpPr txBox="1"/>
          <p:nvPr/>
        </p:nvSpPr>
        <p:spPr>
          <a:xfrm>
            <a:off x="3373281" y="1760538"/>
            <a:ext cx="22396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algn="ctr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语言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程序设计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37230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一、迷宫遍历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下面的网格是用二维数组表示的迷宫。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sym typeface="宋体" panose="02010600030101010101" pitchFamily="2" charset="-122"/>
              </a:rPr>
              <a:t>#表示迷宫的墙,而句号(.)表示通过迷宫可能的路径。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395" y="2509520"/>
            <a:ext cx="6124575" cy="1838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37230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一、迷宫遍历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走迷宫有一个简单的算法,它保证可以找到出口(假设有出口)。如果没有出口,则将再次达到起始位置。将您的右手放在右边的墙上,然后向前走。水远不要从墙上移开您的手。如果迷宫向右转,则您跟着墙向右转。只要您没有将手从墙上移开,则最终将达到迷宫的出口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可能有的路径比您的路径要短,但这种方法可以保证您走出迷宫。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编写一个递归函数 mazeTraverse来走出迷宫。函数应该接收一个表示迷宫的12乘12的字符数组,以及迷宫的起始位置作为参数。因为 mazeTraverse试图找到迷宫的出口,它应该在路径上的每个方格内放置X。函数应该在每次移动之后显示迷宫,这样用户可以观察如何解决迷宫问题。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20612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二、算法分析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1.递归：回溯算法，深度优先遍历</a:t>
            </a:r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2.递归：简单算法--永远靠着右侧墙壁行走</a:t>
            </a:r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按照上下左右的先后顺序行走，如果走不通原路返回，</a:t>
            </a:r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en-US" alt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从下一个节点开始继续走，直到找到出口为止。</a:t>
            </a:r>
            <a:endParaRPr lang="en-US" alt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53232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三、随机产生迷宫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编写一个函数 mazeGenerator,它用一个12乘12的字符数组作为参数,机产生迷宫。函数也应该提供迷宫的起始和终止位置。用几个随机生成的迷宫来测试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前面例题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中的函数 mazeTraverse.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第一个程序：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随机产生包括出口和入口在内的迷宫。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如果按照上下左右的顺序行走，则迷宫只会生成一条直线，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或者两个相邻的出口和入口点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第二个程序：改进第一个程序中出现的问题，但是此方案还有一个问题，就是随机路线过短的问题需要解决。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第三个程序：解决第二个程序中的问题，增加RANK常量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为迷宫复杂度，随机次数越多，复杂度越大；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此方案存在问题</a:t>
            </a:r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：如果起始和终点位置在4个角，只能原地不动。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</a:pP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algn="l">
              <a:buClrTx/>
              <a:buSzTx/>
            </a:pP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第四个程序：递归，深度搜索优先算法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，项目完成。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三、随机产生迷宫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045" y="2466975"/>
            <a:ext cx="1819275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28917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四、生成并处理任意宽度和高度的迷宫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只需要改变和替换</a:t>
            </a:r>
            <a:r>
              <a:rPr lang="zh-CN"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已完成项目中迷宫大小常量值</a:t>
            </a:r>
            <a:endParaRPr lang="zh-CN"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#define SIZE 13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任意正方形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递归：深度搜索优先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#define SIZE 20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555" y="2765425"/>
            <a:ext cx="2867025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1738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411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文本框 4"/>
          <p:cNvSpPr txBox="1"/>
          <p:nvPr/>
        </p:nvSpPr>
        <p:spPr>
          <a:xfrm>
            <a:off x="652463" y="1404938"/>
            <a:ext cx="7653337" cy="178371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四、生成并处理任意宽度和高度的迷宫</a:t>
            </a:r>
            <a:endParaRPr lang="zh-CN" altLang="en-US" sz="24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sz="14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任意长方形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递归：深度搜索优先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#define SIZE1 20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r>
              <a:rPr sz="1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#define SIZE2 40</a:t>
            </a:r>
            <a:endParaRPr sz="18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955" y="3655060"/>
            <a:ext cx="5905500" cy="2981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7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96975"/>
            <a:ext cx="9144000" cy="5664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196975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9459" name="图片 2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1275" y="-17462"/>
            <a:ext cx="3048000" cy="121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矩形 5"/>
          <p:cNvSpPr/>
          <p:nvPr/>
        </p:nvSpPr>
        <p:spPr>
          <a:xfrm>
            <a:off x="250825" y="1412875"/>
            <a:ext cx="3241675" cy="36988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昆山爱达人信息技术有限公司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825" y="1752600"/>
            <a:ext cx="903288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视频提供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89063" y="2781300"/>
            <a:ext cx="73025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3" name="矩形 8"/>
          <p:cNvSpPr/>
          <p:nvPr/>
        </p:nvSpPr>
        <p:spPr>
          <a:xfrm>
            <a:off x="1585913" y="2781300"/>
            <a:ext cx="2503487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p>
            <a:pPr algn="dist"/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视频录制：编程达人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89063" y="3716338"/>
            <a:ext cx="73025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5" name="矩形 10"/>
          <p:cNvSpPr/>
          <p:nvPr/>
        </p:nvSpPr>
        <p:spPr>
          <a:xfrm>
            <a:off x="1585913" y="3716338"/>
            <a:ext cx="210820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zh-CN" sz="1600" dirty="0">
                <a:latin typeface="黑体" panose="02010609060101010101" charset="-122"/>
                <a:ea typeface="黑体" panose="02010609060101010101" charset="-122"/>
              </a:rPr>
              <a:t>官网地址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www.bcdaren.com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390650" y="47244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7" name="矩形 13"/>
          <p:cNvSpPr/>
          <p:nvPr/>
        </p:nvSpPr>
        <p:spPr>
          <a:xfrm>
            <a:off x="1585913" y="4724400"/>
            <a:ext cx="146685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QQ</a:t>
            </a:r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1250121864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86275" y="27813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69" name="矩形 15"/>
          <p:cNvSpPr/>
          <p:nvPr/>
        </p:nvSpPr>
        <p:spPr>
          <a:xfrm>
            <a:off x="4675188" y="2781300"/>
            <a:ext cx="1851025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联系电话：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en-US" altLang="zh-CN" sz="2000" dirty="0">
                <a:latin typeface="黑体" panose="02010609060101010101" charset="-122"/>
                <a:ea typeface="黑体" panose="02010609060101010101" charset="-122"/>
              </a:rPr>
              <a:t>0512-57882866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86275" y="3716338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71" name="矩形 17"/>
          <p:cNvSpPr/>
          <p:nvPr/>
        </p:nvSpPr>
        <p:spPr>
          <a:xfrm>
            <a:off x="4675188" y="3716338"/>
            <a:ext cx="146685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联系公众号：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r>
              <a:rPr lang="zh-CN" altLang="en-US" sz="2000" dirty="0">
                <a:latin typeface="黑体" panose="02010609060101010101" charset="-122"/>
                <a:ea typeface="黑体" panose="02010609060101010101" charset="-122"/>
              </a:rPr>
              <a:t>昆山爱达人</a:t>
            </a:r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87863" y="4724400"/>
            <a:ext cx="71438" cy="3603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73" name="矩形 19"/>
          <p:cNvSpPr/>
          <p:nvPr/>
        </p:nvSpPr>
        <p:spPr>
          <a:xfrm>
            <a:off x="4675188" y="4724400"/>
            <a:ext cx="1481137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p>
            <a:pPr algn="dist"/>
            <a:r>
              <a:rPr lang="zh-CN" altLang="en-US" sz="1600" dirty="0">
                <a:latin typeface="黑体" panose="02010609060101010101" charset="-122"/>
                <a:ea typeface="黑体" panose="02010609060101010101" charset="-122"/>
              </a:rPr>
              <a:t>编程达人</a:t>
            </a:r>
            <a:r>
              <a:rPr lang="en-US" altLang="zh-CN" sz="1600" dirty="0">
                <a:latin typeface="黑体" panose="02010609060101010101" charset="-122"/>
                <a:ea typeface="黑体" panose="02010609060101010101" charset="-122"/>
              </a:rPr>
              <a:t>APP:</a:t>
            </a:r>
            <a:endParaRPr lang="en-US" altLang="zh-CN" sz="1600" dirty="0">
              <a:latin typeface="黑体" panose="02010609060101010101" charset="-122"/>
              <a:ea typeface="黑体" panose="02010609060101010101" charset="-122"/>
            </a:endParaRPr>
          </a:p>
          <a:p>
            <a:pPr algn="dist"/>
            <a:endParaRPr lang="en-US" altLang="zh-CN" sz="20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1122</Words>
  <Application>WPS 演示</Application>
  <PresentationFormat>全屏显示(4:3)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dtds</dc:creator>
  <cp:lastModifiedBy>dt</cp:lastModifiedBy>
  <cp:revision>238</cp:revision>
  <dcterms:created xsi:type="dcterms:W3CDTF">2016-04-11T03:23:00Z</dcterms:created>
  <dcterms:modified xsi:type="dcterms:W3CDTF">2019-12-06T14:22:17Z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</Properties>
</file>